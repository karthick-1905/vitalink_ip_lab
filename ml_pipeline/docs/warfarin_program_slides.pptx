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WARFARIN MODELING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1B16"/>
                </a:solidFill>
                <a:latin typeface="Georgia"/>
              </a:rPr>
              <a:t>Dose prediction, time-to-stability prediction, and continual model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0"/>
              </a:spcAft>
            </a:pPr>
            <a:r>
              <a:rPr sz="1600" b="0">
                <a:solidFill>
                  <a:srgbClr val="5C564F"/>
                </a:solidFill>
                <a:latin typeface="Georgia"/>
              </a:rPr>
              <a:t>This deck consolidates the full workflow: benchmarking dose prediction against the IWPC calculator, evaluating time-to-stability models, and testing repeated retraining on shifted incoming cohorts.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2926080" cy="2057400"/>
          </a:xfrm>
          <a:prstGeom prst="roundRect">
            <a:avLst/>
          </a:prstGeom>
          <a:solidFill>
            <a:srgbClr val="F8F3EC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4505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697480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F1B16"/>
                </a:solidFill>
                <a:latin typeface="Georgia"/>
              </a:rPr>
              <a:t>Dosage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108960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0"/>
              </a:spcAft>
            </a:pPr>
            <a:r>
              <a:rPr sz="1200" b="0">
                <a:solidFill>
                  <a:srgbClr val="5C564F"/>
                </a:solidFill>
                <a:latin typeface="Calibri"/>
              </a:rPr>
              <a:t>Best model slightly outperforms the IWPC pharmacogenetic calculator on RMSE.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58768" y="2240280"/>
            <a:ext cx="2926080" cy="2057400"/>
          </a:xfrm>
          <a:prstGeom prst="roundRect">
            <a:avLst/>
          </a:prstGeom>
          <a:solidFill>
            <a:srgbClr val="F8F3EC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24505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2697480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F1B16"/>
                </a:solidFill>
                <a:latin typeface="Georgia"/>
              </a:rPr>
              <a:t>Time to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3108960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0"/>
              </a:spcAft>
            </a:pPr>
            <a:r>
              <a:rPr sz="1200" b="0">
                <a:solidFill>
                  <a:srgbClr val="5C564F"/>
                </a:solidFill>
                <a:latin typeface="Calibri"/>
              </a:rPr>
              <a:t>Current synthetic target remains nearly linear, so simple models hold up well.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14616" y="2240280"/>
            <a:ext cx="2926080" cy="2057400"/>
          </a:xfrm>
          <a:prstGeom prst="roundRect">
            <a:avLst/>
          </a:prstGeom>
          <a:solidFill>
            <a:srgbClr val="F8F3EC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245059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9208" y="2697480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F1B16"/>
                </a:solidFill>
                <a:latin typeface="Georgia"/>
              </a:rPr>
              <a:t>Continual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8" y="3108960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0"/>
              </a:spcAft>
            </a:pPr>
            <a:r>
              <a:rPr sz="1200" b="0">
                <a:solidFill>
                  <a:srgbClr val="5C564F"/>
                </a:solidFill>
                <a:latin typeface="Calibri"/>
              </a:rPr>
              <a:t>Retraining on shifted batches recovers large amounts of lost accuracy.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234440"/>
            <a:ext cx="2514600" cy="306324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B38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6" y="1481328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BEST DOSE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173736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3F5A4E"/>
                </a:solidFill>
                <a:latin typeface="Georgia"/>
              </a:rPr>
              <a:t>Our Model (Tuned LightGBM)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23774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F1B16"/>
                </a:solidFill>
                <a:latin typeface="Calibri"/>
              </a:rPr>
              <a:t>RMSE 11.90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6974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F1B16"/>
                </a:solidFill>
                <a:latin typeface="Calibri"/>
              </a:rPr>
              <a:t>Stability RMSE 4.19d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F5A4E"/>
                </a:solidFill>
                <a:latin typeface="Calibri"/>
              </a:rPr>
              <a:t>Dose adaptation 18.0 -&gt; 6.3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640080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64F"/>
                </a:solidFill>
                <a:latin typeface="Calibri"/>
              </a:rPr>
              <a:t>Combined summary for all three requested tasks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64F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DOSE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1B16"/>
                </a:solidFill>
                <a:latin typeface="Georgia"/>
              </a:rPr>
              <a:t>Dose benchmarking against IWPC and baseline machine-learning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2880360" cy="1828800"/>
          </a:xfrm>
          <a:prstGeom prst="roundRect">
            <a:avLst/>
          </a:prstGeom>
          <a:solidFill>
            <a:srgbClr val="F8F3EC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08760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TOP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3F5A4E"/>
                </a:solidFill>
                <a:latin typeface="Georgia"/>
              </a:rPr>
              <a:t>Our Model (Tuned LightGBM)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04288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564F"/>
                </a:solidFill>
                <a:latin typeface="Calibri"/>
              </a:rPr>
              <a:t>RMSE 11.90, MAE 8.70, R² 0.421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06624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C564F"/>
                </a:solidFill>
                <a:latin typeface="Calibri"/>
              </a:rPr>
              <a:t>IWPC PGx RMSE 11.92, MAE 8.65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73552"/>
            <a:ext cx="2880360" cy="233172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493008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TOP SHAP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67328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F1B16"/>
                </a:solidFill>
                <a:latin typeface="Calibri"/>
              </a:rPr>
              <a:t>VKORC1 A/A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37673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F5A4E"/>
                </a:solidFill>
                <a:latin typeface="Calibri"/>
              </a:rPr>
              <a:t>4.292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041648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F1B16"/>
                </a:solidFill>
                <a:latin typeface="Calibri"/>
              </a:rPr>
              <a:t>VKORC1 G/G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404164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F5A4E"/>
                </a:solidFill>
                <a:latin typeface="Calibri"/>
              </a:rPr>
              <a:t>3.202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315968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F1B16"/>
                </a:solidFill>
                <a:latin typeface="Calibri"/>
              </a:rPr>
              <a:t>Weight 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431596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F5A4E"/>
                </a:solidFill>
                <a:latin typeface="Calibri"/>
              </a:rPr>
              <a:t>3.053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590288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F1B16"/>
                </a:solidFill>
                <a:latin typeface="Calibri"/>
              </a:rPr>
              <a:t>Age Decades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459028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F5A4E"/>
                </a:solidFill>
                <a:latin typeface="Calibri"/>
              </a:rPr>
              <a:t>3.011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864607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F1B16"/>
                </a:solidFill>
                <a:latin typeface="Calibri"/>
              </a:rPr>
              <a:t>CYP2C9 *1/*1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4864607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F5A4E"/>
                </a:solidFill>
                <a:latin typeface="Calibri"/>
              </a:rPr>
              <a:t>1.855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138927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F1B16"/>
                </a:solidFill>
                <a:latin typeface="Calibri"/>
              </a:rPr>
              <a:t>Height 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5138927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F5A4E"/>
                </a:solidFill>
                <a:latin typeface="Calibri"/>
              </a:rPr>
              <a:t>1.021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611880" y="1280160"/>
          <a:ext cx="7680960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541782"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r2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within_20_pct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</a:tr>
              <a:tr h="541782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Our Model (Tuned LightGBM)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11.9034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8.7012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0.4209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41.9530</a:t>
                      </a:r>
                    </a:p>
                  </a:txBody>
                  <a:tcPr/>
                </a:tc>
              </a:tr>
              <a:tr h="541782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IWPC Pharmacogenetic Calculator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11.9198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8.6526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0.4193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41.6817</a:t>
                      </a:r>
                    </a:p>
                  </a:txBody>
                  <a:tcPr/>
                </a:tc>
              </a:tr>
              <a:tr h="541782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11.9238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8.7364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0.4190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41.3201</a:t>
                      </a:r>
                    </a:p>
                  </a:txBody>
                  <a:tcPr/>
                </a:tc>
              </a:tr>
              <a:tr h="541782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12.0937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8.8810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0.4023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41.5009</a:t>
                      </a:r>
                    </a:p>
                  </a:txBody>
                  <a:tcPr/>
                </a:tc>
              </a:tr>
              <a:tr h="541782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12.2332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8.8270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0.3884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41.4105</a:t>
                      </a:r>
                    </a:p>
                  </a:txBody>
                  <a:tcPr/>
                </a:tc>
              </a:tr>
              <a:tr h="541782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13.0928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9.5326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0.2994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39.6022</a:t>
                      </a:r>
                    </a:p>
                  </a:txBody>
                  <a:tcPr/>
                </a:tc>
              </a:tr>
              <a:tr h="541782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IWPC Clinical 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13.8394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10.0696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0.2173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35.6239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75488" y="640080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64F"/>
                </a:solidFill>
                <a:latin typeface="Calibri"/>
              </a:rPr>
              <a:t>Dose prediction on the IWPC cohort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64F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DOSE VISUALS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1B16"/>
                </a:solidFill>
                <a:latin typeface="Georgia"/>
              </a:rPr>
              <a:t>Leaderboard and fit diagnostics stay tightly clustered at the 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166360" cy="498348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wpc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81328"/>
            <a:ext cx="5074920" cy="4526280"/>
          </a:xfrm>
          <a:prstGeom prst="rect">
            <a:avLst/>
          </a:prstGeom>
        </p:spPr>
      </p:pic>
      <p:pic>
        <p:nvPicPr>
          <p:cNvPr id="8" name="Picture 7" descr="iwpc_prediction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481328"/>
            <a:ext cx="475488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" y="640080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64F"/>
                </a:solidFill>
                <a:latin typeface="Calibri"/>
              </a:rPr>
              <a:t>Dose comparison and patient-level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64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TIME TO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1B16"/>
                </a:solidFill>
                <a:latin typeface="Georgia"/>
              </a:rPr>
              <a:t>The synthetic stability target is comparatively linear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2880360" cy="1828800"/>
          </a:xfrm>
          <a:prstGeom prst="roundRect">
            <a:avLst/>
          </a:prstGeom>
          <a:solidFill>
            <a:srgbClr val="F8F3EC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08760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BEST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3F5A4E"/>
                </a:solidFill>
                <a:latin typeface="Georgia"/>
              </a:rPr>
              <a:t>Linear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04288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564F"/>
                </a:solidFill>
                <a:latin typeface="Calibri"/>
              </a:rPr>
              <a:t>RMSE 4.19 days, MAE 3.32, within 7 days 89.6%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73552"/>
            <a:ext cx="2880360" cy="233172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493008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TOP SHAP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67328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F1B16"/>
                </a:solidFill>
                <a:latin typeface="Calibri"/>
              </a:rPr>
              <a:t>CYP2C9 *1/*1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37673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F5A4E"/>
                </a:solidFill>
                <a:latin typeface="Calibri"/>
              </a:rPr>
              <a:t>0.872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041648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F1B16"/>
                </a:solidFill>
                <a:latin typeface="Calibri"/>
              </a:rPr>
              <a:t>VKORC1 GG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404164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F5A4E"/>
                </a:solidFill>
                <a:latin typeface="Calibri"/>
              </a:rPr>
              <a:t>0.544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315968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F1B16"/>
                </a:solidFill>
                <a:latin typeface="Calibri"/>
              </a:rPr>
              <a:t>Renal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431596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F5A4E"/>
                </a:solidFill>
                <a:latin typeface="Calibri"/>
              </a:rPr>
              <a:t>0.373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590288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F1B16"/>
                </a:solidFill>
                <a:latin typeface="Calibri"/>
              </a:rPr>
              <a:t>Height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459028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F5A4E"/>
                </a:solidFill>
                <a:latin typeface="Calibri"/>
              </a:rPr>
              <a:t>0.310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864607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F1B16"/>
                </a:solidFill>
                <a:latin typeface="Calibri"/>
              </a:rPr>
              <a:t>VKORC1 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4864607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F5A4E"/>
                </a:solidFill>
                <a:latin typeface="Calibri"/>
              </a:rPr>
              <a:t>0.271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138927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F1B16"/>
                </a:solidFill>
                <a:latin typeface="Calibri"/>
              </a:rPr>
              <a:t>VKORC1 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5138927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F5A4E"/>
                </a:solidFill>
                <a:latin typeface="Calibri"/>
              </a:rPr>
              <a:t>0.200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611880" y="1280160"/>
          <a:ext cx="7680960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722376"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r2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within_7_days_pct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4.1890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3.3222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0.1317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89.6000</a:t>
                      </a:r>
                    </a:p>
                  </a:txBody>
                  <a:tcPr/>
                </a:tc>
              </a:tr>
              <a:tr h="722376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4.1973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3.3245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0.1283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90.0000</a:t>
                      </a:r>
                    </a:p>
                  </a:txBody>
                  <a:tcPr/>
                </a:tc>
              </a:tr>
              <a:tr h="722376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4.2381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3.3537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0.1112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90.2000</a:t>
                      </a:r>
                    </a:p>
                  </a:txBody>
                  <a:tcPr/>
                </a:tc>
              </a:tr>
              <a:tr h="722376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4.2452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3.3213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0.1083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90.6000</a:t>
                      </a:r>
                    </a:p>
                  </a:txBody>
                  <a:tcPr/>
                </a:tc>
              </a:tr>
              <a:tr h="722376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4.2930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3.3777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0.0881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89.2000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75488" y="640080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64F"/>
                </a:solidFill>
                <a:latin typeface="Calibri"/>
              </a:rPr>
              <a:t>Time-to-stability comparison on the synthetic cohort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64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STABILITY VISUALS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1B16"/>
                </a:solidFill>
                <a:latin typeface="Georgia"/>
              </a:rPr>
              <a:t>Scatter fit and SHAP views support a simpler operational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291840" cy="475488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bility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54480"/>
            <a:ext cx="2962656" cy="43159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069080" y="1325880"/>
            <a:ext cx="3291840" cy="475488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ability_prediction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554480"/>
            <a:ext cx="2962656" cy="43159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325880"/>
            <a:ext cx="3291840" cy="475488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ability_shap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1" y="1554480"/>
            <a:ext cx="2962656" cy="43159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" y="640080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64F"/>
                </a:solidFill>
                <a:latin typeface="Calibri"/>
              </a:rPr>
              <a:t>Stability leaderboard, fit, and 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64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CONTINUAL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1B16"/>
                </a:solidFill>
                <a:latin typeface="Georgia"/>
              </a:rPr>
              <a:t>Sequential retraining on shifted incoming cohorts materially restores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3017520" cy="4526280"/>
          </a:xfrm>
          <a:prstGeom prst="roundRect">
            <a:avLst/>
          </a:prstGeom>
          <a:solidFill>
            <a:srgbClr val="F8F3EC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DOSE ADAPTATION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1051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F5A4E"/>
                </a:solidFill>
                <a:latin typeface="Calibri"/>
              </a:rPr>
              <a:t>RMSE 17.96 -&gt; 6.29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21408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F"/>
                </a:solidFill>
                <a:latin typeface="Calibri"/>
              </a:rPr>
              <a:t>Within 20% 22.3% -&gt; 85.7%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61488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STABILITY ADAPTATION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35808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F5A4E"/>
                </a:solidFill>
                <a:latin typeface="Calibri"/>
              </a:rPr>
              <a:t>RMSE 11.47 -&gt; 6.06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46704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F"/>
                </a:solidFill>
                <a:latin typeface="Calibri"/>
              </a:rPr>
              <a:t>Within 7 days 39.0% -&gt; 75.5%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749039" y="1298448"/>
          <a:ext cx="7543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  <a:gridCol w="1257300"/>
                <a:gridCol w="1257300"/>
              </a:tblGrid>
              <a:tr h="905256"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round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train_size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dose_rmse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dose_within_20_pct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stability_rmse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stability_within_7_days_pct</a:t>
                      </a:r>
                    </a:p>
                  </a:txBody>
                  <a:tcPr>
                    <a:solidFill>
                      <a:srgbClr val="E7DDCD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17.9595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22.3333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11.4675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39.0000</a:t>
                      </a:r>
                    </a:p>
                  </a:txBody>
                  <a:tcPr/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Update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2800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7.8012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74.1667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6.2159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74.3333</a:t>
                      </a:r>
                    </a:p>
                  </a:txBody>
                  <a:tcPr/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Update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3100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6.8023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81.6667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6.1223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75.3333</a:t>
                      </a:r>
                    </a:p>
                  </a:txBody>
                  <a:tcPr/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Update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3400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6.2852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85.6667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6.0645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Calibri"/>
                        </a:rPr>
                        <a:t>75.5000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75488" y="640080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64F"/>
                </a:solidFill>
                <a:latin typeface="Calibri"/>
              </a:rPr>
              <a:t>Continual-update experiment on shifted incoming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64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UPDATE VISUALS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1B16"/>
                </a:solidFill>
                <a:latin typeface="Georgia"/>
              </a:rPr>
              <a:t>The first update batch delivers the largest recovery, with smaller gains after that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291840" cy="475488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inual_update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54480"/>
            <a:ext cx="2962656" cy="43159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069080" y="1325880"/>
            <a:ext cx="3291840" cy="475488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tinual_update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554480"/>
            <a:ext cx="2962656" cy="43159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325880"/>
            <a:ext cx="3291840" cy="475488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tinual_update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1" y="1554480"/>
            <a:ext cx="2962656" cy="43159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" y="640080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64F"/>
                </a:solidFill>
                <a:latin typeface="Calibri"/>
              </a:rPr>
              <a:t>Performance recovery, cohort shift, and pre/post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64F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4D2E"/>
                </a:solidFill>
                <a:latin typeface="Calibri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881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1B16"/>
                </a:solidFill>
                <a:latin typeface="Georgia"/>
              </a:rPr>
              <a:t>What to deploy, what to keep simple, and what to operationalize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926080" cy="1965960"/>
          </a:xfrm>
          <a:prstGeom prst="roundRect">
            <a:avLst/>
          </a:prstGeom>
          <a:solidFill>
            <a:srgbClr val="F8F3EC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7373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F5A4E"/>
                </a:solidFill>
                <a:latin typeface="Georgia"/>
              </a:rPr>
              <a:t>Deploy for Dose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084831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0"/>
              </a:spcAft>
            </a:pPr>
            <a:r>
              <a:rPr sz="1200" b="0">
                <a:solidFill>
                  <a:srgbClr val="5C564F"/>
                </a:solidFill>
                <a:latin typeface="Calibri"/>
              </a:rPr>
              <a:t>Use the tuned LightGBM dose model when the objective is best holdout accuracy against IWPC-style baselines.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58768" y="1463040"/>
            <a:ext cx="2926080" cy="1965960"/>
          </a:xfrm>
          <a:prstGeom prst="roundRect">
            <a:avLst/>
          </a:prstGeom>
          <a:solidFill>
            <a:srgbClr val="F8F3EC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59" y="17373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F5A4E"/>
                </a:solidFill>
                <a:latin typeface="Georgia"/>
              </a:rPr>
              <a:t>Keep Stability Simple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084831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0"/>
              </a:spcAft>
            </a:pPr>
            <a:r>
              <a:rPr sz="1200" b="0">
                <a:solidFill>
                  <a:srgbClr val="5C564F"/>
                </a:solidFill>
                <a:latin typeface="Calibri"/>
              </a:rPr>
              <a:t>Use the linear stability model unless a richer real-world target becomes available.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14616" y="1463040"/>
            <a:ext cx="2926080" cy="1965960"/>
          </a:xfrm>
          <a:prstGeom prst="roundRect">
            <a:avLst/>
          </a:prstGeom>
          <a:solidFill>
            <a:srgbClr val="F8F3EC"/>
          </a:solidFill>
          <a:ln w="12700">
            <a:solidFill>
              <a:srgbClr val="E7D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7373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F5A4E"/>
                </a:solidFill>
                <a:latin typeface="Georgia"/>
              </a:rPr>
              <a:t>Operational Retraining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2084831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0"/>
              </a:spcAft>
            </a:pPr>
            <a:r>
              <a:rPr sz="1200" b="0">
                <a:solidFill>
                  <a:srgbClr val="5C564F"/>
                </a:solidFill>
                <a:latin typeface="Calibri"/>
              </a:rPr>
              <a:t>Schedule cumulative retraining when incoming cohorts diverge from the original patient mix.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49039"/>
            <a:ext cx="9637776" cy="1417320"/>
          </a:xfrm>
          <a:prstGeom prst="roundRect">
            <a:avLst/>
          </a:prstGeom>
          <a:solidFill>
            <a:srgbClr val="FFFBF5"/>
          </a:solidFill>
          <a:ln w="12700">
            <a:solidFill>
              <a:srgbClr val="B38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0507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4D2E"/>
                </a:solidFill>
                <a:latin typeface="Calibri"/>
              </a:rPr>
              <a:t>MASTER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7939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F1B16"/>
                </a:solidFill>
                <a:latin typeface="Calibri"/>
              </a:rPr>
              <a:t>docs/warfarin_full_program_report.md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400507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4D2E"/>
                </a:solidFill>
                <a:latin typeface="Calibri"/>
              </a:rPr>
              <a:t>HTML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39" y="427939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F1B16"/>
                </a:solidFill>
                <a:latin typeface="Calibri"/>
              </a:rPr>
              <a:t>docs/warfarin_program_slides.html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400507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4D2E"/>
                </a:solidFill>
                <a:latin typeface="Calibri"/>
              </a:rPr>
              <a:t>PDF 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427939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F1B16"/>
                </a:solidFill>
                <a:latin typeface="Calibri"/>
              </a:rPr>
              <a:t>docs/warfarin_program_slides.pdf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00507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4D2E"/>
                </a:solidFill>
                <a:latin typeface="Calibri"/>
              </a:rPr>
              <a:t>PPT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27939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F1B16"/>
                </a:solidFill>
                <a:latin typeface="Calibri"/>
              </a:rPr>
              <a:t>docs/warfarin_program_slides.pptx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640080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64F"/>
                </a:solidFill>
                <a:latin typeface="Calibri"/>
              </a:rPr>
              <a:t>Final recommendations and artifact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64F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